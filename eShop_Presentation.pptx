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0886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3" name="Shape 1"/>
          <p:cNvSpPr/>
          <p:nvPr/>
        </p:nvSpPr>
        <p:spPr>
          <a:xfrm>
            <a:off x="0" y="4515963"/>
            <a:ext cx="9144000" cy="6629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eShop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C++ — Programmation Orientée Objet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2004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804672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 : 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Elharchaoui Hiba </a:t>
            </a:r>
          </a:p>
          <a:p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Nouiri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Fatimazzahra</a:t>
            </a:r>
            <a:endParaRPr lang="en-US" sz="1300" dirty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Oulghazi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Fatimazzahra</a:t>
            </a:r>
            <a:endParaRPr lang="en-US" sz="1300" dirty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00" dirty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 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Mourtafiaa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 Soumaya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36956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: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Programmation Orientée Objet avec C++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741289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Y. Es-Saady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21874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eShop - FPT - 2026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02F1AF-22DB-9A3E-906E-467862019920}"/>
              </a:ext>
            </a:extLst>
          </p:cNvPr>
          <p:cNvSpPr txBox="1"/>
          <p:nvPr/>
        </p:nvSpPr>
        <p:spPr>
          <a:xfrm>
            <a:off x="548640" y="4142452"/>
            <a:ext cx="362276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</a:t>
            </a: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Génie Informatique – S4</a:t>
            </a:r>
            <a:endParaRPr lang="en-MA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Architecture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5727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Hiérarchie des classes, diagramme de relations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73152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11" name="Text 9"/>
          <p:cNvSpPr/>
          <p:nvPr/>
        </p:nvSpPr>
        <p:spPr>
          <a:xfrm>
            <a:off x="4937760" y="1143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94960" y="1143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des classes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5727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Produit, Client, Vendeur, Panier, Commande…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73152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16" name="Text 14"/>
          <p:cNvSpPr/>
          <p:nvPr/>
        </p:nvSpPr>
        <p:spPr>
          <a:xfrm>
            <a:off x="59436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2331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7614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Hierarchie Personne, Produit, héritage multi-niveaux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28600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20" name="Shape 18"/>
          <p:cNvSpPr/>
          <p:nvPr/>
        </p:nvSpPr>
        <p:spPr>
          <a:xfrm>
            <a:off x="4800600" y="2286000"/>
            <a:ext cx="73152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21" name="Text 19"/>
          <p:cNvSpPr/>
          <p:nvPr/>
        </p:nvSpPr>
        <p:spPr>
          <a:xfrm>
            <a:off x="493776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94960" y="2331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27614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virtuelles pures, override, Catalogue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73152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26" name="Text 24"/>
          <p:cNvSpPr/>
          <p:nvPr/>
        </p:nvSpPr>
        <p:spPr>
          <a:xfrm>
            <a:off x="594360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51560" y="3520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Surcharge &amp; Fonctions amies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39502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operator==, operator&lt;, operator&lt;&lt;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47472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30" name="Shape 28"/>
          <p:cNvSpPr/>
          <p:nvPr/>
        </p:nvSpPr>
        <p:spPr>
          <a:xfrm>
            <a:off x="4800600" y="3474720"/>
            <a:ext cx="73152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31" name="Text 29"/>
          <p:cNvSpPr/>
          <p:nvPr/>
        </p:nvSpPr>
        <p:spPr>
          <a:xfrm>
            <a:off x="4937760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94960" y="3520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&amp; Conclusion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9502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injection SQL, résumé POO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 ·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Hiérarchie des classes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3931920" cy="19202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de 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 dérivées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Personne (abstraite)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Client, Vendeur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 (abstraite)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Vetement, Electronique, Alimentation, Livre, SportFitness, MaisonDecor, Ticket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Ordinateur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relations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08760"/>
          <a:ext cx="3931920" cy="19202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→ Panier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Commande → Paiement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Panier → ArticlePanier[]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ArticlePanier → Produit*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 → Produit*[]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L'architecture repose sur une hiérarchie de classes bien définie, séparant les entités métier (produits, clients, commandes) des couches techniques (base de données, catalogue, panier). L'application est connectée à une base de données MySQL.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 · CLASSES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des Classes — Métier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4114800" cy="347472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8" name="Text 6"/>
          <p:cNvSpPr/>
          <p:nvPr/>
        </p:nvSpPr>
        <p:spPr>
          <a:xfrm>
            <a:off x="566928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(abstraite)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581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de base pour tous les produits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1856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nom, prix, stock, note, statut, enPromotion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2194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acheter(), activerPromotion(), ajouterCommentaire(), appliquerRemise() [virtuelle pure]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0600" y="1170432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13" name="Shape 11"/>
          <p:cNvSpPr/>
          <p:nvPr/>
        </p:nvSpPr>
        <p:spPr>
          <a:xfrm>
            <a:off x="4800600" y="1170432"/>
            <a:ext cx="4114800" cy="347472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14" name="Text 12"/>
          <p:cNvSpPr/>
          <p:nvPr/>
        </p:nvSpPr>
        <p:spPr>
          <a:xfrm>
            <a:off x="4910328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0328" y="1581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Hérite de Personne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10328" y="1856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adresse, panier (Panier*)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ajouterAuPanier(), passerCommande(), afficherHistorique(), appliquerCodePromo()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999232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19" name="Shape 17"/>
          <p:cNvSpPr/>
          <p:nvPr/>
        </p:nvSpPr>
        <p:spPr>
          <a:xfrm>
            <a:off x="457200" y="2999232"/>
            <a:ext cx="4114800" cy="347472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20" name="Text 18"/>
          <p:cNvSpPr/>
          <p:nvPr/>
        </p:nvSpPr>
        <p:spPr>
          <a:xfrm>
            <a:off x="566928" y="3035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3410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les articles sélectionnés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" y="3685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idClient, articles (vector), remisePromo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4023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ajouterArticle(), supprimerArticle(), calculerTotal(), vider()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2999232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25" name="Shape 23"/>
          <p:cNvSpPr/>
          <p:nvPr/>
        </p:nvSpPr>
        <p:spPr>
          <a:xfrm>
            <a:off x="4800600" y="2999232"/>
            <a:ext cx="4114800" cy="347472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26" name="Text 24"/>
          <p:cNvSpPr/>
          <p:nvPr/>
        </p:nvSpPr>
        <p:spPr>
          <a:xfrm>
            <a:off x="4910328" y="3035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0328" y="3410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finalisée, décrémente le stock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10328" y="3685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idCommande, adresseLivraison, fraisLivraison, paiement*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10328" y="4023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sauvegarderDansDB(), calculerTotal(), afficherCommande()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 · CLASSES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des Classes — Infrastructure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4114800" cy="347472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8" name="Text 6"/>
          <p:cNvSpPr/>
          <p:nvPr/>
        </p:nvSpPr>
        <p:spPr>
          <a:xfrm>
            <a:off x="566928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581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MySQL + sécurité anti-injection SQL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1856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 (MYSQL*)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2194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fetchAll(), fetchOne(), fetchOneMap(), execute(), safe(), escape()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0600" y="1170432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13" name="Shape 11"/>
          <p:cNvSpPr/>
          <p:nvPr/>
        </p:nvSpPr>
        <p:spPr>
          <a:xfrm>
            <a:off x="4800600" y="1170432"/>
            <a:ext cx="4114800" cy="347472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14" name="Text 12"/>
          <p:cNvSpPr/>
          <p:nvPr/>
        </p:nvSpPr>
        <p:spPr>
          <a:xfrm>
            <a:off x="4910328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0328" y="1581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tous les produits depuis la DB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10328" y="1856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(vector&lt;Produit*&gt;)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chargerDepuisDB(), rechercherParNom(), filtrerParCategorie(), filtrerParPrix()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999232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19" name="Shape 17"/>
          <p:cNvSpPr/>
          <p:nvPr/>
        </p:nvSpPr>
        <p:spPr>
          <a:xfrm>
            <a:off x="457200" y="2999232"/>
            <a:ext cx="4114800" cy="347472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20" name="Text 18"/>
          <p:cNvSpPr/>
          <p:nvPr/>
        </p:nvSpPr>
        <p:spPr>
          <a:xfrm>
            <a:off x="566928" y="3035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Vendeur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3410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Hérite de Personne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" y="3685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nomBoutique, chiffreAffaires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4023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afficherProduitsDB(), chargerChiffreAffaires()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2999232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25" name="Shape 23"/>
          <p:cNvSpPr/>
          <p:nvPr/>
        </p:nvSpPr>
        <p:spPr>
          <a:xfrm>
            <a:off x="4800600" y="2999232"/>
            <a:ext cx="4114800" cy="347472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26" name="Text 24"/>
          <p:cNvSpPr/>
          <p:nvPr/>
        </p:nvSpPr>
        <p:spPr>
          <a:xfrm>
            <a:off x="4910328" y="3035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Electronique / Ordinateur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0328" y="3410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Héritage à deux niveaux : Produit → Electronique → Ordinateur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10328" y="3685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marque, garantieMois | cpu, gpu, stockageGo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10328" y="4023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afficherDetails() — surchargée à chaque niveau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 · HÉRITAGE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Hiérarchie Personne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regroupe authentification, identité et gestion de session. Client et Vendeur en héritent et ajoutent leurs comportements spécifiques.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3931920" cy="12618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9" name="Text 7"/>
          <p:cNvSpPr/>
          <p:nvPr/>
        </p:nvSpPr>
        <p:spPr>
          <a:xfrm>
            <a:off x="566928" y="2157984"/>
            <a:ext cx="37124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Client : public Personne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adresse;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Panier* panier;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passerCommande(Database&amp; db);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afficherHistorique(Database&amp; db);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0" y="11704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Héritage à deux niveaux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48132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→ Electronique → Ordinateur. Ordinateur dispose de tous les attributs des deux classes parentes.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938528"/>
            <a:ext cx="3931920" cy="11887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13" name="Text 11"/>
          <p:cNvSpPr/>
          <p:nvPr/>
        </p:nvSpPr>
        <p:spPr>
          <a:xfrm>
            <a:off x="4864608" y="2011680"/>
            <a:ext cx="371246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Niveau 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Electronique : public Produit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marque; int garantieMois;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Niveau 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Ordinateur : public Electronique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cpu, gpu; int stockageGo;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493008"/>
            <a:ext cx="2560320" cy="749808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15" name="Text 13"/>
          <p:cNvSpPr/>
          <p:nvPr/>
        </p:nvSpPr>
        <p:spPr>
          <a:xfrm>
            <a:off x="548640" y="3538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nom, prix, stock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63240" y="3703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91840" y="3493008"/>
            <a:ext cx="2560320" cy="749808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19" name="Text 17"/>
          <p:cNvSpPr/>
          <p:nvPr/>
        </p:nvSpPr>
        <p:spPr>
          <a:xfrm>
            <a:off x="3383280" y="3538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Electronique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840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marque, garantieMois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97880" y="3703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26480" y="3493008"/>
            <a:ext cx="2560320" cy="749808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23" name="Text 21"/>
          <p:cNvSpPr/>
          <p:nvPr/>
        </p:nvSpPr>
        <p:spPr>
          <a:xfrm>
            <a:off x="6217920" y="3538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Ordinateur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3840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gpu, stockageGo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· POLYMORPHISME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virtuelles pures dans Produit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4114800" cy="11887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8" name="Text 6"/>
          <p:cNvSpPr/>
          <p:nvPr/>
        </p:nvSpPr>
        <p:spPr>
          <a:xfrm>
            <a:off x="566928" y="1554480"/>
            <a:ext cx="389534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Produit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virtual double appliquerRemise(double pct) = 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virtual void afficherDetails() const = 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virtual Categorie getCategorieEnum() const = 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481328"/>
            <a:ext cx="3931920" cy="11887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10" name="Text 8"/>
          <p:cNvSpPr/>
          <p:nvPr/>
        </p:nvSpPr>
        <p:spPr>
          <a:xfrm>
            <a:off x="4864608" y="1554480"/>
            <a:ext cx="371246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Vetement : public Produit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appliquerRemise(double pct) override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prix *= (1.0 - pct/100.0);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prix;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afficherDetails() const override { ...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Categorie getCategorieEnum() const override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Categorie::VETEMENT;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Polymorphisme en action dans le Catalogue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8229600" cy="868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13" name="Text 11"/>
          <p:cNvSpPr/>
          <p:nvPr/>
        </p:nvSpPr>
        <p:spPr>
          <a:xfrm>
            <a:off x="566928" y="3136392"/>
            <a:ext cx="80101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vector&lt;Produit*&gt; — un seul appel, comportement différent selon le type réel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auto* p : produits)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p-&gt;afficherDetails(); // Vetement::afficherDetails() pour un Vetement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// Livre::afficherDetails() pour un Livre, etc.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0050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virtual, ce code appellerait toujours Produit::afficherDetails(), ignorant le type réel de l'objet.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 · OPÉRATEURS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Surcharge des Opérateurs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8229600" cy="14630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operator==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 membre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par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operator&lt;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 membre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par prix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operator&lt;&lt;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 amie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Affiche dans ostream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operator&lt;&lt;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 amie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Affiche dans ostream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743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Opérateurs membres (== et &lt;)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3063240"/>
            <a:ext cx="3931920" cy="10972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6" name="Text 6"/>
          <p:cNvSpPr/>
          <p:nvPr/>
        </p:nvSpPr>
        <p:spPr>
          <a:xfrm>
            <a:off x="566928" y="3136392"/>
            <a:ext cx="37124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operator==(const Produit&amp; a) const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id == a.id;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operator&lt;(const Produit&amp; a) const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prix &lt; a.prix; // tri automatique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754880" y="2743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 ami (&lt;&lt;)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3063240"/>
            <a:ext cx="3931920" cy="10972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12" name="Text 9"/>
          <p:cNvSpPr/>
          <p:nvPr/>
        </p:nvSpPr>
        <p:spPr>
          <a:xfrm>
            <a:off x="4864608" y="3136392"/>
            <a:ext cx="37124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ostream&amp; operator&lt;&lt;(ostream&amp; os,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const Produit&amp; p)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os &lt;&lt; "[" &lt;&lt; p.id &lt;&lt; "] 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&lt;&lt; p.nom &lt;&lt; " | 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&lt;&lt; p.prix &lt;&lt; " MAD";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os; // chainage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 · FONCTIONS AMIES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Amies (friend)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fonction amie est une fonction externe à qui on accorde un accès privilégié aux membres private et protected. Elle ne dispose pas de pointeur this.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8229600" cy="1417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801014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Produit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protected: int id; string nom; double prix;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friend ostream&amp; operator&lt;&lt;(ostream&amp; os, const Produit&amp; p);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ostream&amp; operator&lt;&lt;(ostream&amp; os, const Produit&amp; p)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os &lt;&lt; "[" &lt;&lt; p.id &lt;&lt; "] " &lt;&lt; p.nom &lt;&lt; " | " &lt;&lt; p.prix &lt;&lt; " MAD";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os;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90672"/>
          <a:ext cx="8229600" cy="11887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 amie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 membre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Déclaration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friend dans la classe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dans la classe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de paramètres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(les deux objets)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(this = objet gauche)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typique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&lt;&lt;, &gt;&gt; (ostream à gauche)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==, &lt;, +=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7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ami pour &lt;&lt; ?  ostream est toujours à gauche. Une fonction membre forcerait d'écrire produit &lt;&lt; cout — ce qui est absurde.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 · DATABASE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&amp; Persistance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classe Database encapsule entièrement la connexion MySQL. Elle expose une interface simple utilisée par toutes les autres classes, avec la méthode safe() pour prévenir les injections SQL.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8229600" cy="420624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54864" cy="42062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9" name="Text 7"/>
          <p:cNvSpPr/>
          <p:nvPr/>
        </p:nvSpPr>
        <p:spPr>
          <a:xfrm>
            <a:off x="658368" y="17739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fetchAll(sql)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17520" y="177393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 toutes les lignes sous forme de vector&lt;vector&lt;string&gt;&gt;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82296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54864" cy="42062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13" name="Text 11"/>
          <p:cNvSpPr/>
          <p:nvPr/>
        </p:nvSpPr>
        <p:spPr>
          <a:xfrm>
            <a:off x="658368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fetchOne(sql)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17520" y="226771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 la première ligne uniquement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8229600" cy="420624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16" name="Shape 14"/>
          <p:cNvSpPr/>
          <p:nvPr/>
        </p:nvSpPr>
        <p:spPr>
          <a:xfrm>
            <a:off x="457200" y="2706624"/>
            <a:ext cx="54864" cy="42062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17" name="Text 15"/>
          <p:cNvSpPr/>
          <p:nvPr/>
        </p:nvSpPr>
        <p:spPr>
          <a:xfrm>
            <a:off x="658368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execute(sql)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276148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 une requête INSERT / UPDATE / DELETE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54864" cy="42062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21" name="Text 19"/>
          <p:cNvSpPr/>
          <p:nvPr/>
        </p:nvSpPr>
        <p:spPr>
          <a:xfrm>
            <a:off x="658368" y="3255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safe(val)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17520" y="325526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Échappe les caractères spéciaux → prévient les injections SQL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694176"/>
            <a:ext cx="8229600" cy="420624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24" name="Shape 22"/>
          <p:cNvSpPr/>
          <p:nvPr/>
        </p:nvSpPr>
        <p:spPr>
          <a:xfrm>
            <a:off x="457200" y="3694176"/>
            <a:ext cx="54864" cy="42062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25" name="Text 23"/>
          <p:cNvSpPr/>
          <p:nvPr/>
        </p:nvSpPr>
        <p:spPr>
          <a:xfrm>
            <a:off x="658368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lastInsertId()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017520" y="3749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Récupère l'id auto-incrémenté après un INSERT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2793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d'injection de dépendance : chaque classe métier reçoit une référence Database&amp; dans ses méthodes, évitant tout couplage à une instance globale.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3" name="Shape 1"/>
          <p:cNvSpPr/>
          <p:nvPr/>
        </p:nvSpPr>
        <p:spPr>
          <a:xfrm>
            <a:off x="0" y="4562856"/>
            <a:ext cx="9144000" cy="6629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886968"/>
            <a:ext cx="32004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4023360" cy="87782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64008" cy="87782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8" name="Text 6"/>
          <p:cNvSpPr/>
          <p:nvPr/>
        </p:nvSpPr>
        <p:spPr>
          <a:xfrm>
            <a:off x="704088" y="10607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" y="135331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private/protected dans toutes les classes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023360" cy="87782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64008" cy="87782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12" name="Text 10"/>
          <p:cNvSpPr/>
          <p:nvPr/>
        </p:nvSpPr>
        <p:spPr>
          <a:xfrm>
            <a:off x="5001768" y="10607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01768" y="135331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→ 7 sous-classes, Personne → Client/Vendeur, Electronique → Ordinateur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029968"/>
            <a:ext cx="4023360" cy="87782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15" name="Shape 13"/>
          <p:cNvSpPr/>
          <p:nvPr/>
        </p:nvSpPr>
        <p:spPr>
          <a:xfrm>
            <a:off x="548640" y="2029968"/>
            <a:ext cx="64008" cy="87782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16" name="Text 14"/>
          <p:cNvSpPr/>
          <p:nvPr/>
        </p:nvSpPr>
        <p:spPr>
          <a:xfrm>
            <a:off x="704088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" y="23774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dans Produit/Personne, override dans les sous-classes, vector&lt;Produit*&gt;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2029968"/>
            <a:ext cx="4023360" cy="87782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19" name="Shape 17"/>
          <p:cNvSpPr/>
          <p:nvPr/>
        </p:nvSpPr>
        <p:spPr>
          <a:xfrm>
            <a:off x="4846320" y="2029968"/>
            <a:ext cx="64008" cy="87782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20" name="Text 18"/>
          <p:cNvSpPr/>
          <p:nvPr/>
        </p:nvSpPr>
        <p:spPr>
          <a:xfrm>
            <a:off x="5001768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Surcharge opérateurs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01768" y="23774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operator==, operator&lt;, operator&lt;&lt; dans Produit et Personne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054096"/>
            <a:ext cx="4023360" cy="87782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23" name="Shape 21"/>
          <p:cNvSpPr/>
          <p:nvPr/>
        </p:nvSpPr>
        <p:spPr>
          <a:xfrm>
            <a:off x="548640" y="3054096"/>
            <a:ext cx="64008" cy="87782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24" name="Text 22"/>
          <p:cNvSpPr/>
          <p:nvPr/>
        </p:nvSpPr>
        <p:spPr>
          <a:xfrm>
            <a:off x="704088" y="3108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amies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" y="34015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operator&lt;&lt; ami de Produit et de Personne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3054096"/>
            <a:ext cx="4023360" cy="87782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27" name="Shape 25"/>
          <p:cNvSpPr/>
          <p:nvPr/>
        </p:nvSpPr>
        <p:spPr>
          <a:xfrm>
            <a:off x="4846320" y="3054096"/>
            <a:ext cx="64008" cy="87782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MA"/>
          </a:p>
        </p:txBody>
      </p:sp>
      <p:sp>
        <p:nvSpPr>
          <p:cNvPr id="28" name="Text 26"/>
          <p:cNvSpPr/>
          <p:nvPr/>
        </p:nvSpPr>
        <p:spPr>
          <a:xfrm>
            <a:off x="5001768" y="3108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01768" y="34015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abstraites Produit et Personne avec méthodes purement virtuelles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56709" y="4713732"/>
            <a:ext cx="525997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Eshop</a:t>
            </a:r>
            <a:r>
              <a:rPr lang="en-US" sz="20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- FPT - 2026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1320</Words>
  <Application>Microsoft Macintosh PowerPoint</Application>
  <PresentationFormat>On-screen Show (16:9)</PresentationFormat>
  <Paragraphs>249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eShop — Projet C++ POO</dc:title>
  <dc:subject>PptxGenJS Presentation</dc:subject>
  <dc:creator>PptxGenJS</dc:creator>
  <cp:lastModifiedBy>EL HARCHAOUI HIBA</cp:lastModifiedBy>
  <cp:revision>3</cp:revision>
  <dcterms:created xsi:type="dcterms:W3CDTF">2026-05-28T23:27:21Z</dcterms:created>
  <dcterms:modified xsi:type="dcterms:W3CDTF">2026-05-29T13:28:20Z</dcterms:modified>
</cp:coreProperties>
</file>